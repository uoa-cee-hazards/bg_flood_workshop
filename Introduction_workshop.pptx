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37" r:id="rId2"/>
    <p:sldId id="341" r:id="rId3"/>
    <p:sldId id="2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19FF"/>
    <a:srgbClr val="F0261C"/>
    <a:srgbClr val="3A709C"/>
    <a:srgbClr val="FFFFFF"/>
    <a:srgbClr val="B9494C"/>
    <a:srgbClr val="323232"/>
    <a:srgbClr val="F25600"/>
    <a:srgbClr val="F27900"/>
    <a:srgbClr val="00467F"/>
    <a:srgbClr val="669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4" autoAdjust="0"/>
    <p:restoredTop sz="82567" autoAdjust="0"/>
  </p:normalViewPr>
  <p:slideViewPr>
    <p:cSldViewPr snapToGrid="0">
      <p:cViewPr varScale="1">
        <p:scale>
          <a:sx n="114" d="100"/>
          <a:sy n="114" d="100"/>
        </p:scale>
        <p:origin x="571" y="101"/>
      </p:cViewPr>
      <p:guideLst>
        <p:guide orient="horz" pos="2954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04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0932EC-C1E0-3EEE-A5EC-F3A52B0C07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46462-8DFC-3FA0-A677-F02F4FFD2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0E3E4-CD39-46B7-AC05-1327F66AAF9A}" type="datetimeFigureOut">
              <a:rPr lang="en-NZ" smtClean="0"/>
              <a:t>8/06/2026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06DC6D-8B45-D667-EEE4-30C18533C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FE135-B290-1E7B-CA60-904AF5E976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BEAA40-593B-4243-845D-085E9C6F9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929626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2FED7-C603-4DBD-A39A-1E5860598A55}" type="datetimeFigureOut">
              <a:rPr lang="en-NZ" smtClean="0"/>
              <a:t>8/06/2026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8A844-23A7-4B5F-83F0-8D751C8876D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61451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E475-558D-6F51-3CFA-D63098C5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8D5B4-B502-8407-4934-0237347C2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C9C1-523B-72C1-5642-8B74EB88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509A3-378D-01B2-31A2-1B367C2E2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8A844-23A7-4B5F-83F0-8D751C8876D0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967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4957-716E-0010-628D-B66C4DACE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37BE9-5275-6665-0B5A-900C6F942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671DB-8172-2E20-8F24-19EF7E292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DB000-D092-2DF3-0C52-6661A0F35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8A844-23A7-4B5F-83F0-8D751C8876D0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1673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1684-2775-51E4-C820-6F4AE8375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9A947-55BE-EBA3-41DC-FDC408E44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99813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4BF5-F374-DD0D-86B8-3ECCE537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056" y="201183"/>
            <a:ext cx="9364743" cy="719999"/>
          </a:xfrm>
        </p:spPr>
        <p:txBody>
          <a:bodyPr/>
          <a:lstStyle>
            <a:lvl1pPr>
              <a:defRPr cap="small" baseline="0"/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1245E-1182-B8B2-858A-0D1B4F392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35C24-B4BD-0E92-6822-19327F31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49171" cy="365125"/>
          </a:xfrm>
          <a:prstGeom prst="rect">
            <a:avLst/>
          </a:prstGeom>
        </p:spPr>
        <p:txBody>
          <a:bodyPr/>
          <a:lstStyle/>
          <a:p>
            <a:fld id="{CABCD89D-06FB-4284-91FA-6F6457C3D9BC}" type="datetime1">
              <a:rPr lang="en-NZ" smtClean="0"/>
              <a:t>8/06/2026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DC296-C1A4-77F4-A0A6-3804F168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187F-B5E2-22EE-A5BF-64E93DC6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4225" y="6356350"/>
            <a:ext cx="629574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276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77B9-04AF-331B-5545-11842D1C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A9585-D38F-4ECC-16C2-0F2DE9866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670A0E6-B91B-77FB-C9CC-9EBDA1D8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49171" cy="365125"/>
          </a:xfrm>
          <a:prstGeom prst="rect">
            <a:avLst/>
          </a:prstGeom>
        </p:spPr>
        <p:txBody>
          <a:bodyPr/>
          <a:lstStyle/>
          <a:p>
            <a:fld id="{CABCD89D-06FB-4284-91FA-6F6457C3D9BC}" type="datetime1">
              <a:rPr lang="en-NZ" smtClean="0"/>
              <a:t>8/06/2026</a:t>
            </a:fld>
            <a:endParaRPr lang="en-NZ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7EBCF7F-2459-4196-1C60-CA7634B7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31C443-2FE7-DA22-3F72-38AF95AC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4225" y="6356350"/>
            <a:ext cx="629574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0491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C0C3-C427-7E31-163B-CFBAED3F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056" y="201183"/>
            <a:ext cx="9364743" cy="7199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643B-AB9D-77BF-B171-53B56A120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F617B-EB56-6F3A-0DD0-CC4107AC9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B8953C2-B69D-B98D-1F87-982A0C1CD5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49171" cy="365125"/>
          </a:xfrm>
          <a:prstGeom prst="rect">
            <a:avLst/>
          </a:prstGeom>
        </p:spPr>
        <p:txBody>
          <a:bodyPr/>
          <a:lstStyle/>
          <a:p>
            <a:fld id="{CABCD89D-06FB-4284-91FA-6F6457C3D9BC}" type="datetime1">
              <a:rPr lang="en-NZ" smtClean="0"/>
              <a:t>8/06/2026</a:t>
            </a:fld>
            <a:endParaRPr lang="en-NZ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00E15F0-69FA-7817-853C-3741958A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0504393-653F-36C2-E785-456E5378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4225" y="6356350"/>
            <a:ext cx="629574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92689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EA5B8-598E-E4F4-83AC-D8C10011F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8B294-FA24-2C41-E4FB-13F8FEC6E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DFF9A-2FA1-ADA5-2208-A1BF66831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C06A9-ABE0-F487-B7B8-EEB93C2CE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A73D2E4-9FA9-0052-B707-03695E194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056" y="201183"/>
            <a:ext cx="9364744" cy="71999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393FFD8-14E2-B545-2947-245B3136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49171" cy="365125"/>
          </a:xfrm>
          <a:prstGeom prst="rect">
            <a:avLst/>
          </a:prstGeom>
        </p:spPr>
        <p:txBody>
          <a:bodyPr/>
          <a:lstStyle/>
          <a:p>
            <a:fld id="{CABCD89D-06FB-4284-91FA-6F6457C3D9BC}" type="datetime1">
              <a:rPr lang="en-NZ" smtClean="0"/>
              <a:t>8/06/2026</a:t>
            </a:fld>
            <a:endParaRPr lang="en-NZ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717B7B6-A547-CACA-E388-33A833D5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F6B452C-594B-1883-7426-72479002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4225" y="6356350"/>
            <a:ext cx="629574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4564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0499-110C-96DB-729C-58D86670B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440" y="201183"/>
            <a:ext cx="9357360" cy="719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01193B3-00CA-BB32-79EE-49F2B13D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49171" cy="365125"/>
          </a:xfrm>
          <a:prstGeom prst="rect">
            <a:avLst/>
          </a:prstGeom>
        </p:spPr>
        <p:txBody>
          <a:bodyPr/>
          <a:lstStyle/>
          <a:p>
            <a:fld id="{CABCD89D-06FB-4284-91FA-6F6457C3D9BC}" type="datetime1">
              <a:rPr lang="en-NZ" smtClean="0"/>
              <a:t>8/06/2026</a:t>
            </a:fld>
            <a:endParaRPr lang="en-NZ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A632E0C-C448-5B53-C7C5-C6954F98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24DE02-F792-0900-6134-673B37953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4225" y="6356350"/>
            <a:ext cx="629574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8537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052339-ECC1-B1FA-AB53-D7BAF78E5A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C714C7-3E47-4BE8-942F-410ABE635307}" type="datetime1">
              <a:rPr lang="en-NZ" smtClean="0"/>
              <a:t>8/06/2026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5A199E-EB72-0A94-CCF7-9F04FE10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GIS IN DISASTER RISK MANAGEMENT</a:t>
            </a:r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81BA-6CC6-0E9F-5D2D-1C9BB076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224" y="6356350"/>
            <a:ext cx="790575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9881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8AE9-8977-03D2-6766-471F10A4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A846-7382-3114-E9CF-7D2BC9C97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4B7D6-50BE-0D2F-F441-857BC8069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8805C19-2BD3-F029-D241-6C997089A4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49171" cy="365125"/>
          </a:xfrm>
          <a:prstGeom prst="rect">
            <a:avLst/>
          </a:prstGeom>
        </p:spPr>
        <p:txBody>
          <a:bodyPr/>
          <a:lstStyle/>
          <a:p>
            <a:fld id="{CABCD89D-06FB-4284-91FA-6F6457C3D9BC}" type="datetime1">
              <a:rPr lang="en-NZ" smtClean="0"/>
              <a:t>8/06/2026</a:t>
            </a:fld>
            <a:endParaRPr lang="en-NZ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90DE611-CB3C-6B31-FBE4-55C73B54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0C77177-A506-6BC1-DAA3-ABE9A7F9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4225" y="6356350"/>
            <a:ext cx="629574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0542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BFCD-27F7-236D-8FD8-0D4924C9D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72414-5D76-6311-E9EF-56E8EF971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99E71-3A65-3FBF-026D-A698A25B9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AE6D1-7845-5B9F-1693-5537263B29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7CCF36-F0D5-4E22-9F46-FEA74E058575}" type="datetime1">
              <a:rPr lang="en-NZ" smtClean="0"/>
              <a:t>8/06/2026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AB707-A686-0C5B-D7DC-D4737F9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GIS IN DISASTER RISK MANAGEMENT</a:t>
            </a:r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60B9A-80FC-5618-629B-6DCF1436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224" y="6356350"/>
            <a:ext cx="790575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3502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49B9-BA2E-2308-F3CD-4FD78DF8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B74DF-279C-339E-8200-7AC765D40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108C-6C2A-5742-A61C-BDCC50C4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B1627-F2BE-49F1-B562-5EFF8284CFA1}" type="datetime1">
              <a:rPr lang="en-NZ" smtClean="0"/>
              <a:t>8/06/2026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98BF8-625C-91F3-B23B-1BC4590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GIS IN DISASTER RISK MANAGEMENT</a:t>
            </a:r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AAF81-9851-4951-731C-F0B31B29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224" y="6356350"/>
            <a:ext cx="790575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1748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E4905A-F0A9-28E6-8FF6-1EF1F08B8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FA6C6-829C-72D7-2880-E7AFFCF3E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ED83-D7B8-73CF-2DCE-80785611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0F5B957-B43E-43BD-B764-D679ED98F844}" type="datetime1">
              <a:rPr lang="en-NZ" smtClean="0"/>
              <a:t>8/06/2026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402B9-3BB3-FE00-124D-62090CD5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GIS IN DISASTER RISK MANAGEMENT</a:t>
            </a:r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FA71F-9537-1E67-AEC8-BAB7BC90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3224" y="6356350"/>
            <a:ext cx="790575" cy="365125"/>
          </a:xfrm>
          <a:prstGeom prst="rect">
            <a:avLst/>
          </a:prstGeom>
        </p:spPr>
        <p:txBody>
          <a:bodyPr/>
          <a:lstStyle/>
          <a:p>
            <a:fld id="{367D4688-DB61-4FE8-989D-AD21859F3F8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5235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131E8-89D6-1FEC-A937-BE7C6A83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800" y="201183"/>
            <a:ext cx="8244000" cy="719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A4D27-580B-FD72-43DE-7677E21C5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8E4EB-33EE-7120-6022-A3F9EA3E0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83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CAA6834C-B0B5-44E3-9D18-B36E3A4F70A5}" type="datetime1">
              <a:rPr lang="en-NZ" smtClean="0"/>
              <a:t>8/06/2026</a:t>
            </a:fld>
            <a:endParaRPr lang="en-N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D265-BF60-0A80-5DC7-3E068D5F1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3224" y="6356350"/>
            <a:ext cx="790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467F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367D4688-DB61-4FE8-989D-AD21859F3F87}" type="slidenum">
              <a:rPr lang="en-NZ" smtClean="0"/>
              <a:pPr/>
              <a:t>‹#›</a:t>
            </a:fld>
            <a:endParaRPr lang="en-NZ" dirty="0"/>
          </a:p>
        </p:txBody>
      </p:sp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8EAACE2A-83D0-E18F-17C1-2662E3F02B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823" y="201182"/>
            <a:ext cx="2016000" cy="720000"/>
          </a:xfrm>
          <a:prstGeom prst="rect">
            <a:avLst/>
          </a:prstGeom>
        </p:spPr>
      </p:pic>
      <p:pic>
        <p:nvPicPr>
          <p:cNvPr id="8" name="Picture 7" descr="A logo with blue text&#10;&#10;Description automatically generated">
            <a:extLst>
              <a:ext uri="{FF2B5EF4-FFF2-40B4-BE49-F238E27FC236}">
                <a16:creationId xmlns:a16="http://schemas.microsoft.com/office/drawing/2014/main" id="{7DD31EEA-DAB4-4959-8D9D-24026301BD6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2427" y="255993"/>
            <a:ext cx="1652703" cy="701438"/>
          </a:xfrm>
          <a:prstGeom prst="rect">
            <a:avLst/>
          </a:prstGeom>
        </p:spPr>
      </p:pic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AFB61F2-5AA9-D773-306A-F5A8CCDCE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4625" y="6356350"/>
            <a:ext cx="7910004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4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cap="all" dirty="0">
                <a:solidFill>
                  <a:srgbClr val="00467F"/>
                </a:solidFill>
              </a:rPr>
              <a:t>framework for the modelling of extreme weather flood hazards in Aotearoa New Zealand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72683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467F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2286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rgbClr val="00467F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rgbClr val="00467F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rgbClr val="00467F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rgbClr val="00467F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rgbClr val="00467F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CC6E-1DD1-9C05-83C5-640E9F28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8E6A1A-FC35-7C8E-0EEB-C1630BB616B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1134141"/>
            <a:ext cx="5971469" cy="43455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9E8D74-5994-277F-E197-03B89B771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820" y="1916483"/>
            <a:ext cx="6043865" cy="1181136"/>
          </a:xfrm>
        </p:spPr>
        <p:txBody>
          <a:bodyPr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2800" cap="all" dirty="0"/>
              <a:t>BG-Flood Workshop</a:t>
            </a:r>
            <a:endParaRPr lang="en-NZ" sz="2800" cap="al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5AD76-B9D4-C7D8-6F0F-FD39E864F4EB}"/>
              </a:ext>
            </a:extLst>
          </p:cNvPr>
          <p:cNvSpPr txBox="1"/>
          <p:nvPr/>
        </p:nvSpPr>
        <p:spPr>
          <a:xfrm>
            <a:off x="5918010" y="4869194"/>
            <a:ext cx="5854895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NZ" sz="16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Jo</a:t>
            </a:r>
            <a:r>
              <a:rPr lang="fr-FR" sz="16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ë </a:t>
            </a:r>
            <a:r>
              <a:rPr lang="en-NZ" sz="16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Pelmard</a:t>
            </a:r>
            <a:r>
              <a:rPr lang="en-NZ" sz="1600" baseline="300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  <a:r>
              <a:rPr lang="en-NZ" sz="16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, Alice Harang</a:t>
            </a:r>
            <a:r>
              <a:rPr lang="en-NZ" sz="1600" baseline="300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  <a:p>
            <a:endParaRPr lang="en-NZ" sz="1400" dirty="0">
              <a:solidFill>
                <a:schemeClr val="accent4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en-NZ" sz="1200" i="1" baseline="300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  <a:r>
              <a:rPr lang="en-NZ" sz="1200" i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University of Auckland, New Zealand</a:t>
            </a:r>
          </a:p>
          <a:p>
            <a:r>
              <a:rPr lang="en-NZ" sz="1200" i="1" baseline="30000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  <a:r>
              <a:rPr lang="en-NZ" sz="1200" i="1" dirty="0">
                <a:solidFill>
                  <a:schemeClr val="accent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NZ" sz="1200" i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Earth </a:t>
            </a:r>
            <a:r>
              <a:rPr lang="en-NZ" sz="1200" i="1" dirty="0" err="1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ational</a:t>
            </a:r>
            <a:r>
              <a:rPr lang="en-NZ" sz="1200" i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Institute of Water and Atmospheric Research, New Zealand</a:t>
            </a:r>
            <a:endParaRPr lang="en-NZ" sz="1200" i="1" dirty="0">
              <a:solidFill>
                <a:schemeClr val="accent4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BB812-CFDE-A536-FC4E-6EA57173703E}"/>
              </a:ext>
            </a:extLst>
          </p:cNvPr>
          <p:cNvSpPr txBox="1"/>
          <p:nvPr/>
        </p:nvSpPr>
        <p:spPr>
          <a:xfrm>
            <a:off x="782820" y="4254809"/>
            <a:ext cx="4727453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600" i="1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Rainfall and fluvial flooding</a:t>
            </a:r>
            <a:endParaRPr lang="en-NZ" sz="1600" i="1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844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7060-0568-6EC0-B6BF-F95E3F1C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E89E6-B6C2-6E59-0351-66397706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4688-DB61-4FE8-989D-AD21859F3F87}" type="slidenum">
              <a:rPr lang="en-NZ" smtClean="0"/>
              <a:t>2</a:t>
            </a:fld>
            <a:endParaRPr lang="en-NZ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9FE0B100-386E-0496-9489-EC9EDE8FB537}"/>
              </a:ext>
            </a:extLst>
          </p:cNvPr>
          <p:cNvSpPr txBox="1">
            <a:spLocks/>
          </p:cNvSpPr>
          <p:nvPr/>
        </p:nvSpPr>
        <p:spPr>
          <a:xfrm>
            <a:off x="1280160" y="1171488"/>
            <a:ext cx="10186626" cy="451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7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467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7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467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7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467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7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467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7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467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Z" dirty="0">
                <a:solidFill>
                  <a:schemeClr val="accent4"/>
                </a:solidFill>
              </a:rPr>
              <a:t>Clone/download the tutorial repository</a:t>
            </a:r>
          </a:p>
          <a:p>
            <a:pPr marL="0" indent="0">
              <a:buNone/>
            </a:pPr>
            <a:endParaRPr lang="en-NZ" sz="14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NZ" dirty="0">
                <a:solidFill>
                  <a:schemeClr val="accent4"/>
                </a:solidFill>
              </a:rPr>
              <a:t>Open Anaconda Prompt </a:t>
            </a:r>
            <a:r>
              <a:rPr lang="en-NZ" dirty="0">
                <a:solidFill>
                  <a:schemeClr val="accent4"/>
                </a:solidFill>
                <a:sym typeface="Wingdings" panose="05000000000000000000" pitchFamily="2" charset="2"/>
              </a:rPr>
              <a:t> Open Visual Studio code from the prompt</a:t>
            </a:r>
            <a:endParaRPr lang="en-NZ" sz="1600" dirty="0">
              <a:solidFill>
                <a:schemeClr val="accent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96C7D-A182-4FD1-5125-011BC2E2A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13" y="2652712"/>
            <a:ext cx="3727652" cy="388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908A17-4AD6-301A-F841-0D35B47D2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006" y="3394984"/>
            <a:ext cx="5292793" cy="271772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0690B73-D3D2-CBEE-778B-82692D459BC1}"/>
              </a:ext>
            </a:extLst>
          </p:cNvPr>
          <p:cNvSpPr/>
          <p:nvPr/>
        </p:nvSpPr>
        <p:spPr>
          <a:xfrm>
            <a:off x="5112775" y="4450080"/>
            <a:ext cx="769620" cy="4800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389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6E90-851F-FE75-14BA-1C14BF0C0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B9B52-D147-E544-12BA-05AA472F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4688-DB61-4FE8-989D-AD21859F3F87}" type="slidenum">
              <a:rPr lang="en-NZ" smtClean="0"/>
              <a:t>3</a:t>
            </a:fld>
            <a:endParaRPr lang="en-NZ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2A9276A-3BD8-3D10-3CDC-4E89A8A23520}"/>
              </a:ext>
            </a:extLst>
          </p:cNvPr>
          <p:cNvGrpSpPr>
            <a:grpSpLocks noChangeAspect="1"/>
          </p:cNvGrpSpPr>
          <p:nvPr/>
        </p:nvGrpSpPr>
        <p:grpSpPr>
          <a:xfrm>
            <a:off x="667203" y="241475"/>
            <a:ext cx="10857594" cy="6480000"/>
            <a:chOff x="295585" y="0"/>
            <a:chExt cx="11490954" cy="68580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FC336F5-34CF-3DF3-8D74-CEE4F7F30D4D}"/>
                </a:ext>
              </a:extLst>
            </p:cNvPr>
            <p:cNvGrpSpPr/>
            <p:nvPr/>
          </p:nvGrpSpPr>
          <p:grpSpPr>
            <a:xfrm>
              <a:off x="295585" y="0"/>
              <a:ext cx="11490954" cy="6858000"/>
              <a:chOff x="295585" y="0"/>
              <a:chExt cx="11490954" cy="6858000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DE17C20-CD93-E032-1C92-3460F8537619}"/>
                  </a:ext>
                </a:extLst>
              </p:cNvPr>
              <p:cNvGrpSpPr/>
              <p:nvPr/>
            </p:nvGrpSpPr>
            <p:grpSpPr>
              <a:xfrm>
                <a:off x="295585" y="0"/>
                <a:ext cx="11490954" cy="6858000"/>
                <a:chOff x="295585" y="0"/>
                <a:chExt cx="11490954" cy="6858000"/>
              </a:xfrm>
            </p:grpSpPr>
            <p:pic>
              <p:nvPicPr>
                <p:cNvPr id="34" name="Picture 33">
                  <a:extLst>
                    <a:ext uri="{FF2B5EF4-FFF2-40B4-BE49-F238E27FC236}">
                      <a16:creationId xmlns:a16="http://schemas.microsoft.com/office/drawing/2014/main" id="{F12346E7-23E2-71FB-4D3F-A6EF0E05B7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5461" y="0"/>
                  <a:ext cx="11381078" cy="6858000"/>
                </a:xfrm>
                <a:prstGeom prst="rect">
                  <a:avLst/>
                </a:prstGeom>
              </p:spPr>
            </p:pic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59E1627-8D34-5D33-B4B3-B1E4380FB82A}"/>
                    </a:ext>
                  </a:extLst>
                </p:cNvPr>
                <p:cNvSpPr/>
                <p:nvPr/>
              </p:nvSpPr>
              <p:spPr>
                <a:xfrm>
                  <a:off x="295585" y="2559522"/>
                  <a:ext cx="360000" cy="360000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56047CC4-BE71-7B9F-CAE8-21B500A320D0}"/>
                    </a:ext>
                  </a:extLst>
                </p:cNvPr>
                <p:cNvSpPr/>
                <p:nvPr/>
              </p:nvSpPr>
              <p:spPr>
                <a:xfrm>
                  <a:off x="9509760" y="1249680"/>
                  <a:ext cx="2247900" cy="198120"/>
                </a:xfrm>
                <a:prstGeom prst="roundRect">
                  <a:avLst/>
                </a:prstGeom>
                <a:noFill/>
                <a:ln w="28575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B1C1D304-FFA0-C279-21E3-769CCE47DD4E}"/>
                    </a:ext>
                  </a:extLst>
                </p:cNvPr>
                <p:cNvSpPr/>
                <p:nvPr/>
              </p:nvSpPr>
              <p:spPr>
                <a:xfrm>
                  <a:off x="9997440" y="1447800"/>
                  <a:ext cx="1760220" cy="148590"/>
                </a:xfrm>
                <a:prstGeom prst="roundRect">
                  <a:avLst/>
                </a:prstGeom>
                <a:noFill/>
                <a:ln w="28575">
                  <a:solidFill>
                    <a:srgbClr val="2419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83D51DB5-C6D8-DDBC-4252-467C60FB4CE8}"/>
                    </a:ext>
                  </a:extLst>
                </p:cNvPr>
                <p:cNvSpPr/>
                <p:nvPr/>
              </p:nvSpPr>
              <p:spPr>
                <a:xfrm>
                  <a:off x="9997440" y="1627708"/>
                  <a:ext cx="1760220" cy="601142"/>
                </a:xfrm>
                <a:prstGeom prst="round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FB88FE46-47EF-4249-E6D7-762AE9EEF92F}"/>
                    </a:ext>
                  </a:extLst>
                </p:cNvPr>
                <p:cNvSpPr/>
                <p:nvPr/>
              </p:nvSpPr>
              <p:spPr>
                <a:xfrm>
                  <a:off x="11082020" y="6700519"/>
                  <a:ext cx="584200" cy="157481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Z"/>
                </a:p>
              </p:txBody>
            </p:sp>
          </p:grp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AD60EF64-086C-BD8A-C0FC-7247516AF4A5}"/>
                  </a:ext>
                </a:extLst>
              </p:cNvPr>
              <p:cNvSpPr/>
              <p:nvPr/>
            </p:nvSpPr>
            <p:spPr>
              <a:xfrm>
                <a:off x="711545" y="2469992"/>
                <a:ext cx="1612555" cy="360000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Z" b="1" dirty="0">
                    <a:solidFill>
                      <a:srgbClr val="FF0000"/>
                    </a:solidFill>
                  </a:rPr>
                  <a:t>Layer Styling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BB440A5-7AE3-90A0-D641-412153A8E55D}"/>
                  </a:ext>
                </a:extLst>
              </p:cNvPr>
              <p:cNvSpPr/>
              <p:nvPr/>
            </p:nvSpPr>
            <p:spPr>
              <a:xfrm>
                <a:off x="7917335" y="1122365"/>
                <a:ext cx="1592425" cy="360000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Z" b="1" dirty="0">
                    <a:solidFill>
                      <a:srgbClr val="7030A0"/>
                    </a:solidFill>
                  </a:rPr>
                  <a:t>Style</a:t>
                </a: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C4C742EE-FB3D-6605-5FDB-86785961470E}"/>
                  </a:ext>
                </a:extLst>
              </p:cNvPr>
              <p:cNvSpPr/>
              <p:nvPr/>
            </p:nvSpPr>
            <p:spPr>
              <a:xfrm>
                <a:off x="7917334" y="1868850"/>
                <a:ext cx="1592425" cy="360000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Z" b="1" dirty="0">
                    <a:solidFill>
                      <a:schemeClr val="tx1"/>
                    </a:solidFill>
                  </a:rPr>
                  <a:t>Colormap features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7139482-AB31-2C81-F3E8-9FC0E52EC102}"/>
                  </a:ext>
                </a:extLst>
              </p:cNvPr>
              <p:cNvSpPr/>
              <p:nvPr/>
            </p:nvSpPr>
            <p:spPr>
              <a:xfrm>
                <a:off x="7917333" y="1474285"/>
                <a:ext cx="1592425" cy="360000"/>
              </a:xfrm>
              <a:prstGeom prst="round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NZ" b="1" dirty="0">
                    <a:solidFill>
                      <a:srgbClr val="2419FF"/>
                    </a:solidFill>
                  </a:rPr>
                  <a:t>Timestep</a:t>
                </a:r>
              </a:p>
            </p:txBody>
          </p: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9F0F903-018C-6C6C-0696-AC4ACECD9E74}"/>
                </a:ext>
              </a:extLst>
            </p:cNvPr>
            <p:cNvSpPr/>
            <p:nvPr/>
          </p:nvSpPr>
          <p:spPr>
            <a:xfrm>
              <a:off x="11026657" y="6267914"/>
              <a:ext cx="698155" cy="360000"/>
            </a:xfrm>
            <a:prstGeom prst="round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b="1" dirty="0">
                  <a:solidFill>
                    <a:srgbClr val="FF0000"/>
                  </a:solidFill>
                </a:rPr>
                <a:t>CRS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6034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A_design_240829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91B2D1"/>
      </a:accent1>
      <a:accent2>
        <a:srgbClr val="B6CCE1"/>
      </a:accent2>
      <a:accent3>
        <a:srgbClr val="DDE6EE"/>
      </a:accent3>
      <a:accent4>
        <a:srgbClr val="00467F"/>
      </a:accent4>
      <a:accent5>
        <a:srgbClr val="5888B5"/>
      </a:accent5>
      <a:accent6>
        <a:srgbClr val="B20062"/>
      </a:accent6>
      <a:hlink>
        <a:srgbClr val="E1A6C5"/>
      </a:hlink>
      <a:folHlink>
        <a:srgbClr val="A36E7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1b36e95-0d50-42e9-958f-b63fa906beaa}" enabled="0" method="" siteId="{d1b36e95-0d50-42e9-958f-b63fa906b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17574</TotalTime>
  <Words>59</Words>
  <Application>Microsoft Office PowerPoint</Application>
  <PresentationFormat>Widescreen</PresentationFormat>
  <Paragraphs>18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Arial</vt:lpstr>
      <vt:lpstr>Segoe UI</vt:lpstr>
      <vt:lpstr>Segoe UI Light</vt:lpstr>
      <vt:lpstr>Segoe UI Semibold</vt:lpstr>
      <vt:lpstr>Segoe UI Semilight</vt:lpstr>
      <vt:lpstr>Wingdings</vt:lpstr>
      <vt:lpstr>Office Theme</vt:lpstr>
      <vt:lpstr>BG-Flood Workshop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MULTI-SCENARIO APPROACH FOR LIQUEFACTION EXPOSURE ASSESSMENTS ACROSS NEW ZEALAND STATE HIGHWAYS</dc:title>
  <dc:creator>Amelia Lin</dc:creator>
  <cp:lastModifiedBy>Joe Pelmard</cp:lastModifiedBy>
  <cp:revision>177</cp:revision>
  <dcterms:created xsi:type="dcterms:W3CDTF">2024-04-03T21:21:47Z</dcterms:created>
  <dcterms:modified xsi:type="dcterms:W3CDTF">2026-06-07T20:24:17Z</dcterms:modified>
</cp:coreProperties>
</file>